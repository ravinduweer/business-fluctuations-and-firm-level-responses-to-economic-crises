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Merriweather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42D205-EBBB-404D-B02D-B1402621D95A}" v="6" dt="2025-11-18T20:11:17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ndu Weerasekara" userId="6c385888f3fa3265" providerId="LiveId" clId="{6F6769AB-0036-47FD-90E5-0F24117F8E0F}"/>
    <pc:docChg chg="undo custSel modSld">
      <pc:chgData name="Ravindu Weerasekara" userId="6c385888f3fa3265" providerId="LiveId" clId="{6F6769AB-0036-47FD-90E5-0F24117F8E0F}" dt="2025-11-18T21:24:42.598" v="179" actId="207"/>
      <pc:docMkLst>
        <pc:docMk/>
      </pc:docMkLst>
      <pc:sldChg chg="modSp mod">
        <pc:chgData name="Ravindu Weerasekara" userId="6c385888f3fa3265" providerId="LiveId" clId="{6F6769AB-0036-47FD-90E5-0F24117F8E0F}" dt="2025-11-18T19:48:53.929" v="2" actId="20577"/>
        <pc:sldMkLst>
          <pc:docMk/>
          <pc:sldMk cId="0" sldId="257"/>
        </pc:sldMkLst>
        <pc:spChg chg="mod">
          <ac:chgData name="Ravindu Weerasekara" userId="6c385888f3fa3265" providerId="LiveId" clId="{6F6769AB-0036-47FD-90E5-0F24117F8E0F}" dt="2025-11-18T19:48:53.929" v="2" actId="20577"/>
          <ac:spMkLst>
            <pc:docMk/>
            <pc:sldMk cId="0" sldId="257"/>
            <ac:spMk id="95" creationId="{00000000-0000-0000-0000-000000000000}"/>
          </ac:spMkLst>
        </pc:spChg>
      </pc:sldChg>
      <pc:sldChg chg="modSp mod">
        <pc:chgData name="Ravindu Weerasekara" userId="6c385888f3fa3265" providerId="LiveId" clId="{6F6769AB-0036-47FD-90E5-0F24117F8E0F}" dt="2025-11-18T20:39:21.696" v="155" actId="1076"/>
        <pc:sldMkLst>
          <pc:docMk/>
          <pc:sldMk cId="0" sldId="261"/>
        </pc:sldMkLst>
        <pc:spChg chg="mod">
          <ac:chgData name="Ravindu Weerasekara" userId="6c385888f3fa3265" providerId="LiveId" clId="{6F6769AB-0036-47FD-90E5-0F24117F8E0F}" dt="2025-11-18T20:39:21.696" v="155" actId="1076"/>
          <ac:spMkLst>
            <pc:docMk/>
            <pc:sldMk cId="0" sldId="261"/>
            <ac:spMk id="151" creationId="{00000000-0000-0000-0000-000000000000}"/>
          </ac:spMkLst>
        </pc:spChg>
        <pc:picChg chg="mod">
          <ac:chgData name="Ravindu Weerasekara" userId="6c385888f3fa3265" providerId="LiveId" clId="{6F6769AB-0036-47FD-90E5-0F24117F8E0F}" dt="2025-11-18T20:39:15.924" v="154" actId="1076"/>
          <ac:picMkLst>
            <pc:docMk/>
            <pc:sldMk cId="0" sldId="261"/>
            <ac:picMk id="149" creationId="{00000000-0000-0000-0000-000000000000}"/>
          </ac:picMkLst>
        </pc:picChg>
      </pc:sldChg>
      <pc:sldChg chg="addSp delSp modSp mod">
        <pc:chgData name="Ravindu Weerasekara" userId="6c385888f3fa3265" providerId="LiveId" clId="{6F6769AB-0036-47FD-90E5-0F24117F8E0F}" dt="2025-11-18T20:07:33.053" v="129" actId="14100"/>
        <pc:sldMkLst>
          <pc:docMk/>
          <pc:sldMk cId="0" sldId="262"/>
        </pc:sldMkLst>
        <pc:spChg chg="mod">
          <ac:chgData name="Ravindu Weerasekara" userId="6c385888f3fa3265" providerId="LiveId" clId="{6F6769AB-0036-47FD-90E5-0F24117F8E0F}" dt="2025-11-18T19:50:53.987" v="9" actId="1076"/>
          <ac:spMkLst>
            <pc:docMk/>
            <pc:sldMk cId="0" sldId="262"/>
            <ac:spMk id="158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19:51:39.318" v="38" actId="1076"/>
          <ac:spMkLst>
            <pc:docMk/>
            <pc:sldMk cId="0" sldId="262"/>
            <ac:spMk id="159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19:51:46.130" v="60" actId="1035"/>
          <ac:spMkLst>
            <pc:docMk/>
            <pc:sldMk cId="0" sldId="262"/>
            <ac:spMk id="160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19:51:04.341" v="11" actId="1076"/>
          <ac:spMkLst>
            <pc:docMk/>
            <pc:sldMk cId="0" sldId="262"/>
            <ac:spMk id="165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19:51:19.499" v="15" actId="1076"/>
          <ac:spMkLst>
            <pc:docMk/>
            <pc:sldMk cId="0" sldId="262"/>
            <ac:spMk id="166" creationId="{00000000-0000-0000-0000-000000000000}"/>
          </ac:spMkLst>
        </pc:spChg>
        <pc:picChg chg="add del mod">
          <ac:chgData name="Ravindu Weerasekara" userId="6c385888f3fa3265" providerId="LiveId" clId="{6F6769AB-0036-47FD-90E5-0F24117F8E0F}" dt="2025-11-18T20:05:22.052" v="116" actId="478"/>
          <ac:picMkLst>
            <pc:docMk/>
            <pc:sldMk cId="0" sldId="262"/>
            <ac:picMk id="12" creationId="{45E267B7-2F3F-6DB9-BAAA-5477A00189FE}"/>
          </ac:picMkLst>
        </pc:picChg>
        <pc:picChg chg="add mod">
          <ac:chgData name="Ravindu Weerasekara" userId="6c385888f3fa3265" providerId="LiveId" clId="{6F6769AB-0036-47FD-90E5-0F24117F8E0F}" dt="2025-11-18T20:07:33.053" v="129" actId="14100"/>
          <ac:picMkLst>
            <pc:docMk/>
            <pc:sldMk cId="0" sldId="262"/>
            <ac:picMk id="14" creationId="{70979101-2462-1F28-8EEA-3F3D95EF04A3}"/>
          </ac:picMkLst>
        </pc:picChg>
        <pc:picChg chg="mod">
          <ac:chgData name="Ravindu Weerasekara" userId="6c385888f3fa3265" providerId="LiveId" clId="{6F6769AB-0036-47FD-90E5-0F24117F8E0F}" dt="2025-11-18T19:51:00.499" v="10" actId="1076"/>
          <ac:picMkLst>
            <pc:docMk/>
            <pc:sldMk cId="0" sldId="262"/>
            <ac:picMk id="162" creationId="{00000000-0000-0000-0000-000000000000}"/>
          </ac:picMkLst>
        </pc:picChg>
        <pc:picChg chg="mod">
          <ac:chgData name="Ravindu Weerasekara" userId="6c385888f3fa3265" providerId="LiveId" clId="{6F6769AB-0036-47FD-90E5-0F24117F8E0F}" dt="2025-11-18T19:51:42.515" v="50" actId="1035"/>
          <ac:picMkLst>
            <pc:docMk/>
            <pc:sldMk cId="0" sldId="262"/>
            <ac:picMk id="163" creationId="{00000000-0000-0000-0000-000000000000}"/>
          </ac:picMkLst>
        </pc:picChg>
        <pc:picChg chg="mod">
          <ac:chgData name="Ravindu Weerasekara" userId="6c385888f3fa3265" providerId="LiveId" clId="{6F6769AB-0036-47FD-90E5-0F24117F8E0F}" dt="2025-11-18T19:51:51.281" v="101" actId="1035"/>
          <ac:picMkLst>
            <pc:docMk/>
            <pc:sldMk cId="0" sldId="262"/>
            <ac:picMk id="164" creationId="{00000000-0000-0000-0000-000000000000}"/>
          </ac:picMkLst>
        </pc:picChg>
        <pc:picChg chg="mod">
          <ac:chgData name="Ravindu Weerasekara" userId="6c385888f3fa3265" providerId="LiveId" clId="{6F6769AB-0036-47FD-90E5-0F24117F8E0F}" dt="2025-11-18T19:51:08.523" v="12" actId="1076"/>
          <ac:picMkLst>
            <pc:docMk/>
            <pc:sldMk cId="0" sldId="262"/>
            <ac:picMk id="167" creationId="{00000000-0000-0000-0000-000000000000}"/>
          </ac:picMkLst>
        </pc:picChg>
        <pc:picChg chg="mod">
          <ac:chgData name="Ravindu Weerasekara" userId="6c385888f3fa3265" providerId="LiveId" clId="{6F6769AB-0036-47FD-90E5-0F24117F8E0F}" dt="2025-11-18T19:51:11.592" v="13" actId="1076"/>
          <ac:picMkLst>
            <pc:docMk/>
            <pc:sldMk cId="0" sldId="262"/>
            <ac:picMk id="168" creationId="{00000000-0000-0000-0000-000000000000}"/>
          </ac:picMkLst>
        </pc:picChg>
      </pc:sldChg>
      <pc:sldChg chg="modSp mod">
        <pc:chgData name="Ravindu Weerasekara" userId="6c385888f3fa3265" providerId="LiveId" clId="{6F6769AB-0036-47FD-90E5-0F24117F8E0F}" dt="2025-11-18T20:52:00.186" v="171" actId="1076"/>
        <pc:sldMkLst>
          <pc:docMk/>
          <pc:sldMk cId="0" sldId="263"/>
        </pc:sldMkLst>
        <pc:spChg chg="mod">
          <ac:chgData name="Ravindu Weerasekara" userId="6c385888f3fa3265" providerId="LiveId" clId="{6F6769AB-0036-47FD-90E5-0F24117F8E0F}" dt="2025-11-18T20:52:00.186" v="171" actId="1076"/>
          <ac:spMkLst>
            <pc:docMk/>
            <pc:sldMk cId="0" sldId="263"/>
            <ac:spMk id="176" creationId="{00000000-0000-0000-0000-000000000000}"/>
          </ac:spMkLst>
        </pc:spChg>
      </pc:sldChg>
      <pc:sldChg chg="addSp modSp mod">
        <pc:chgData name="Ravindu Weerasekara" userId="6c385888f3fa3265" providerId="LiveId" clId="{6F6769AB-0036-47FD-90E5-0F24117F8E0F}" dt="2025-11-18T20:08:55.228" v="139" actId="1076"/>
        <pc:sldMkLst>
          <pc:docMk/>
          <pc:sldMk cId="0" sldId="265"/>
        </pc:sldMkLst>
        <pc:spChg chg="mod">
          <ac:chgData name="Ravindu Weerasekara" userId="6c385888f3fa3265" providerId="LiveId" clId="{6F6769AB-0036-47FD-90E5-0F24117F8E0F}" dt="2025-11-18T20:08:55.228" v="139" actId="1076"/>
          <ac:spMkLst>
            <pc:docMk/>
            <pc:sldMk cId="0" sldId="265"/>
            <ac:spMk id="203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19:52:45.246" v="115" actId="1035"/>
          <ac:spMkLst>
            <pc:docMk/>
            <pc:sldMk cId="0" sldId="265"/>
            <ac:spMk id="204" creationId="{00000000-0000-0000-0000-000000000000}"/>
          </ac:spMkLst>
        </pc:spChg>
        <pc:picChg chg="mod">
          <ac:chgData name="Ravindu Weerasekara" userId="6c385888f3fa3265" providerId="LiveId" clId="{6F6769AB-0036-47FD-90E5-0F24117F8E0F}" dt="2025-11-18T20:08:41.403" v="135" actId="1076"/>
          <ac:picMkLst>
            <pc:docMk/>
            <pc:sldMk cId="0" sldId="265"/>
            <ac:picMk id="3" creationId="{CAC9E924-CC4E-A6E6-94D1-048004772483}"/>
          </ac:picMkLst>
        </pc:picChg>
        <pc:picChg chg="add mod">
          <ac:chgData name="Ravindu Weerasekara" userId="6c385888f3fa3265" providerId="LiveId" clId="{6F6769AB-0036-47FD-90E5-0F24117F8E0F}" dt="2025-11-18T20:08:49.353" v="138" actId="1076"/>
          <ac:picMkLst>
            <pc:docMk/>
            <pc:sldMk cId="0" sldId="265"/>
            <ac:picMk id="5" creationId="{39D1A5EB-0EE5-E6F2-4D36-D8E35764D00C}"/>
          </ac:picMkLst>
        </pc:picChg>
      </pc:sldChg>
      <pc:sldChg chg="modSp mod">
        <pc:chgData name="Ravindu Weerasekara" userId="6c385888f3fa3265" providerId="LiveId" clId="{6F6769AB-0036-47FD-90E5-0F24117F8E0F}" dt="2025-11-18T20:05:34.124" v="117" actId="1076"/>
        <pc:sldMkLst>
          <pc:docMk/>
          <pc:sldMk cId="0" sldId="267"/>
        </pc:sldMkLst>
        <pc:picChg chg="mod">
          <ac:chgData name="Ravindu Weerasekara" userId="6c385888f3fa3265" providerId="LiveId" clId="{6F6769AB-0036-47FD-90E5-0F24117F8E0F}" dt="2025-11-18T20:05:34.124" v="117" actId="1076"/>
          <ac:picMkLst>
            <pc:docMk/>
            <pc:sldMk cId="0" sldId="267"/>
            <ac:picMk id="3" creationId="{5EC56635-37DB-B77E-5875-FCAE3A22085B}"/>
          </ac:picMkLst>
        </pc:picChg>
      </pc:sldChg>
      <pc:sldChg chg="modSp mod">
        <pc:chgData name="Ravindu Weerasekara" userId="6c385888f3fa3265" providerId="LiveId" clId="{6F6769AB-0036-47FD-90E5-0F24117F8E0F}" dt="2025-11-18T21:21:05.463" v="173" actId="207"/>
        <pc:sldMkLst>
          <pc:docMk/>
          <pc:sldMk cId="0" sldId="268"/>
        </pc:sldMkLst>
        <pc:spChg chg="mod">
          <ac:chgData name="Ravindu Weerasekara" userId="6c385888f3fa3265" providerId="LiveId" clId="{6F6769AB-0036-47FD-90E5-0F24117F8E0F}" dt="2025-11-18T21:21:05.463" v="173" actId="207"/>
          <ac:spMkLst>
            <pc:docMk/>
            <pc:sldMk cId="0" sldId="268"/>
            <ac:spMk id="237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21:20:59.669" v="172" actId="207"/>
          <ac:spMkLst>
            <pc:docMk/>
            <pc:sldMk cId="0" sldId="268"/>
            <ac:spMk id="239" creationId="{00000000-0000-0000-0000-000000000000}"/>
          </ac:spMkLst>
        </pc:spChg>
      </pc:sldChg>
      <pc:sldChg chg="modSp mod">
        <pc:chgData name="Ravindu Weerasekara" userId="6c385888f3fa3265" providerId="LiveId" clId="{6F6769AB-0036-47FD-90E5-0F24117F8E0F}" dt="2025-11-18T21:24:42.598" v="179" actId="207"/>
        <pc:sldMkLst>
          <pc:docMk/>
          <pc:sldMk cId="0" sldId="269"/>
        </pc:sldMkLst>
        <pc:spChg chg="mod">
          <ac:chgData name="Ravindu Weerasekara" userId="6c385888f3fa3265" providerId="LiveId" clId="{6F6769AB-0036-47FD-90E5-0F24117F8E0F}" dt="2025-11-18T21:24:42.598" v="179" actId="207"/>
          <ac:spMkLst>
            <pc:docMk/>
            <pc:sldMk cId="0" sldId="269"/>
            <ac:spMk id="250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21:24:01.472" v="174" actId="207"/>
          <ac:spMkLst>
            <pc:docMk/>
            <pc:sldMk cId="0" sldId="269"/>
            <ac:spMk id="251" creationId="{00000000-0000-0000-0000-000000000000}"/>
          </ac:spMkLst>
        </pc:spChg>
        <pc:spChg chg="mod">
          <ac:chgData name="Ravindu Weerasekara" userId="6c385888f3fa3265" providerId="LiveId" clId="{6F6769AB-0036-47FD-90E5-0F24117F8E0F}" dt="2025-11-18T21:24:29.924" v="178" actId="255"/>
          <ac:spMkLst>
            <pc:docMk/>
            <pc:sldMk cId="0" sldId="269"/>
            <ac:spMk id="25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1901" y="476250"/>
            <a:ext cx="870585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45506" y="1325909"/>
            <a:ext cx="7900987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0" u="none" strike="noStrike" cap="none" dirty="0">
                <a:solidFill>
                  <a:srgbClr val="005088"/>
                </a:solidFill>
                <a:latin typeface="Merriweather"/>
                <a:ea typeface="ADLaM Display" panose="020F0502020204030204" pitchFamily="2" charset="0"/>
                <a:cs typeface="Times New Roman" panose="02020603050405020304" pitchFamily="18" charset="0"/>
                <a:sym typeface="Merriweather"/>
              </a:rPr>
              <a:t>Economic Fluctuations &amp;</a:t>
            </a:r>
            <a:br>
              <a:rPr lang="en-US" sz="1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i="0" u="none" strike="noStrike" cap="none" dirty="0">
                <a:solidFill>
                  <a:srgbClr val="005088"/>
                </a:solidFill>
                <a:latin typeface="Merriweather"/>
                <a:ea typeface="ADLaM Display" panose="020F0502020204030204" pitchFamily="2" charset="0"/>
                <a:cs typeface="Times New Roman" panose="02020603050405020304" pitchFamily="18" charset="0"/>
                <a:sym typeface="Merriweather"/>
              </a:rPr>
              <a:t> Firm-Level Responses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333625" y="2857351"/>
            <a:ext cx="752475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Cross-Country Analysis, Crisis Event Study and Firm Insights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333625" y="4350841"/>
            <a:ext cx="7524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Ravindu Weerasekara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33624" y="826442"/>
            <a:ext cx="7524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Project 2: Business Fluctuations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815464" y="1663005"/>
            <a:ext cx="856107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Cross-Country Business</a:t>
            </a:r>
            <a:br>
              <a:rPr lang="en-US" sz="1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Cycle Analysis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3318539" y="4470938"/>
            <a:ext cx="555491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USA, France and Australia (2005-2024)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1647825" y="428625"/>
            <a:ext cx="934116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Volatility Analysis: USA vs. Global Peers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857250" y="183832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High Price Volatility (USA):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US exhibits exceptionally high CPI volatility (Std. Dev. ≈ 2.8), nearly triple that of Australia or France.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7250" y="294322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Labor Market Swings: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 unemployment is significantly more volatile (Std. Dev. ≈ 1.3), indicating a "hire and fire" labor market dynamic.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404812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Financial Integration: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Long-term bond yields show uniform, low volatility across all three nations, reflecting global financial integration.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515302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Takeaway: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US economy is characterized by sharper domestic cyclical swings compared to the stability of France and Australia.</a:t>
            </a:r>
            <a:endParaRPr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764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813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0862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1911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5C740F7-E16A-1F1A-FD3F-4012F32CBC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626" y="1000125"/>
            <a:ext cx="3701148" cy="5632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2719387" y="428625"/>
            <a:ext cx="709088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Correlation with Output (GDP)</a:t>
            </a:r>
            <a:endParaRPr dirty="0"/>
          </a:p>
        </p:txBody>
      </p:sp>
      <p:sp>
        <p:nvSpPr>
          <p:cNvPr id="117" name="Google Shape;117;p16"/>
          <p:cNvSpPr txBox="1"/>
          <p:nvPr/>
        </p:nvSpPr>
        <p:spPr>
          <a:xfrm>
            <a:off x="857250" y="1988790"/>
            <a:ext cx="5000625" cy="141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USA ("Textbook Cycle"):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57250" y="359271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France (Muted):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Follows a similar pattern to the US but with a much weaker link between output and unemployment.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7250" y="4697610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Australia (The Anomaly):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Key variables are </a:t>
            </a: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acyclical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(near zero correlation), suggesting its cycle is driven by external factors like commodity prices rather than domestic demand.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2689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3081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3571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143000" y="2388840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Procyclical: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Inflation and Interest Rates rise with GDP.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143000" y="2853630"/>
            <a:ext cx="4714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Countercyclical: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Unemployment strongly falls as GDP rises (Corr ≈ -0.8).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4269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289173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graph of a graph with text&#10;&#10;AI-generated content may be incorrect.">
            <a:extLst>
              <a:ext uri="{FF2B5EF4-FFF2-40B4-BE49-F238E27FC236}">
                <a16:creationId xmlns:a16="http://schemas.microsoft.com/office/drawing/2014/main" id="{3FD88C9F-D8D3-C13B-DD79-C154ACC2CA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513" y="1773535"/>
            <a:ext cx="4191000" cy="45527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2795587" y="428625"/>
            <a:ext cx="693086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Cyclical Dynamics Over Time</a:t>
            </a:r>
            <a:endParaRPr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857250" y="2308919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Global Financial Crisis (2008):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Visible as a synchronized dip in GDP across all three nations.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857250" y="3109019"/>
            <a:ext cx="5000625" cy="168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COVID-19 (2020) Divergence: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57250" y="498723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Visual Confirmation: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"spikiness" of US time series data confirms the high volatility findings.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4701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4711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2533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143000" y="3509069"/>
            <a:ext cx="47148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France: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Experienced a catastrophic</a:t>
            </a:r>
            <a:r>
              <a:rPr lang="en-US" sz="135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immediate drop in GDP, exceeding peers.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1143000" y="4248150"/>
            <a:ext cx="4714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Saw an unprecedented, historic spike in unemployment, far larger than any prior event.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354716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42862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E59D8B1-B035-34C3-37D2-5BC931349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549" y="1824889"/>
            <a:ext cx="6534877" cy="40842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16748" y="1663005"/>
            <a:ext cx="10011251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Event Study:</a:t>
            </a:r>
            <a:br>
              <a:rPr lang="en-US" sz="1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GFC vs. COVID-19 in the USA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3266459" y="4470938"/>
            <a:ext cx="579888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Comparative Analysis of Two Crises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1790700" y="428625"/>
            <a:ext cx="904113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Macro Dynamics: A Tale of Two Crises</a:t>
            </a:r>
            <a:endParaRPr dirty="0"/>
          </a:p>
        </p:txBody>
      </p:sp>
      <p:sp>
        <p:nvSpPr>
          <p:cNvPr id="158" name="Google Shape;158;p19"/>
          <p:cNvSpPr txBox="1"/>
          <p:nvPr/>
        </p:nvSpPr>
        <p:spPr>
          <a:xfrm>
            <a:off x="294316" y="1127435"/>
            <a:ext cx="5000625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Real GDP:</a:t>
            </a:r>
            <a:endParaRPr dirty="0"/>
          </a:p>
        </p:txBody>
      </p:sp>
      <p:sp>
        <p:nvSpPr>
          <p:cNvPr id="159" name="Google Shape;159;p19"/>
          <p:cNvSpPr txBox="1"/>
          <p:nvPr/>
        </p:nvSpPr>
        <p:spPr>
          <a:xfrm>
            <a:off x="294316" y="2309551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Unemployment: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GFC was a "slow burn" where unemployment peaked years later. COVID-19 saw a single, massive spike followed by rapid improvement.</a:t>
            </a:r>
            <a:endParaRPr dirty="0"/>
          </a:p>
        </p:txBody>
      </p:sp>
      <p:sp>
        <p:nvSpPr>
          <p:cNvPr id="160" name="Google Shape;160;p19"/>
          <p:cNvSpPr txBox="1"/>
          <p:nvPr/>
        </p:nvSpPr>
        <p:spPr>
          <a:xfrm>
            <a:off x="247648" y="3493529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Financial Markets (S&amp;P 500):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GFC endured a multi-year bear market, while COVID-19 was a brief panic followed by a bull run.</a:t>
            </a:r>
            <a:endParaRPr dirty="0"/>
          </a:p>
        </p:txBody>
      </p:sp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69" y="124794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69" y="244820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87" y="3637257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390524" y="1530343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GFC: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prolonged "U-shape" contraction.</a:t>
            </a:r>
            <a:endParaRPr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390524" y="1931330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COVID-19: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sharp, sudden "V-shape" drop and rebound.</a:t>
            </a:r>
            <a:endParaRPr dirty="0"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846" y="1652233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846" y="202556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graph of growth in the quarter&#10;&#10;AI-generated content may be incorrect.">
            <a:extLst>
              <a:ext uri="{FF2B5EF4-FFF2-40B4-BE49-F238E27FC236}">
                <a16:creationId xmlns:a16="http://schemas.microsoft.com/office/drawing/2014/main" id="{865C4016-C209-1EF9-FBDD-46440D12D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634" y="1043111"/>
            <a:ext cx="3410140" cy="3060230"/>
          </a:xfrm>
          <a:prstGeom prst="rect">
            <a:avLst/>
          </a:prstGeom>
        </p:spPr>
      </p:pic>
      <p:pic>
        <p:nvPicPr>
          <p:cNvPr id="6" name="Picture 5" descr="A graph of the growth of the economy&#10;&#10;AI-generated content may be incorrect.">
            <a:extLst>
              <a:ext uri="{FF2B5EF4-FFF2-40B4-BE49-F238E27FC236}">
                <a16:creationId xmlns:a16="http://schemas.microsoft.com/office/drawing/2014/main" id="{34F61379-1AEE-51E3-89D8-ED99762AF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336" y="1021786"/>
            <a:ext cx="3557849" cy="3092462"/>
          </a:xfrm>
          <a:prstGeom prst="rect">
            <a:avLst/>
          </a:prstGeom>
        </p:spPr>
      </p:pic>
      <p:pic>
        <p:nvPicPr>
          <p:cNvPr id="8" name="Picture 7" descr="A graph of a graph showing the amount of unemployment rate&#10;&#10;AI-generated content may be incorrect.">
            <a:extLst>
              <a:ext uri="{FF2B5EF4-FFF2-40B4-BE49-F238E27FC236}">
                <a16:creationId xmlns:a16="http://schemas.microsoft.com/office/drawing/2014/main" id="{8EC00DBD-A929-0766-C0A8-7A98306D3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8634" y="4182722"/>
            <a:ext cx="3410140" cy="2666014"/>
          </a:xfrm>
          <a:prstGeom prst="rect">
            <a:avLst/>
          </a:prstGeom>
        </p:spPr>
      </p:pic>
      <p:pic>
        <p:nvPicPr>
          <p:cNvPr id="10" name="Picture 9" descr="A graph of employment rate during covid-19&#10;&#10;AI-generated content may be incorrect.">
            <a:extLst>
              <a:ext uri="{FF2B5EF4-FFF2-40B4-BE49-F238E27FC236}">
                <a16:creationId xmlns:a16="http://schemas.microsoft.com/office/drawing/2014/main" id="{0137C806-F09D-D564-0D19-823D90B61E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336" y="4191985"/>
            <a:ext cx="3557849" cy="2666015"/>
          </a:xfrm>
          <a:prstGeom prst="rect">
            <a:avLst/>
          </a:prstGeom>
        </p:spPr>
      </p:pic>
      <p:pic>
        <p:nvPicPr>
          <p:cNvPr id="14" name="Picture 13" descr="A graph of growth rates and changes in key macro variables&#10;&#10;AI-generated content may be incorrect.">
            <a:extLst>
              <a:ext uri="{FF2B5EF4-FFF2-40B4-BE49-F238E27FC236}">
                <a16:creationId xmlns:a16="http://schemas.microsoft.com/office/drawing/2014/main" id="{70979101-2462-1F28-8EEA-3F3D95EF04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524" y="4539511"/>
            <a:ext cx="4338792" cy="2309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08932"/>
            <a:ext cx="3492549" cy="327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08932"/>
            <a:ext cx="3492549" cy="327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08932"/>
            <a:ext cx="3492549" cy="327838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2116086" y="1096923"/>
            <a:ext cx="843607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Severity of the Shock- COVID 19</a:t>
            </a:r>
            <a:endParaRPr dirty="0"/>
          </a:p>
        </p:txBody>
      </p:sp>
      <p:sp>
        <p:nvSpPr>
          <p:cNvPr id="177" name="Google Shape;177;p20"/>
          <p:cNvSpPr txBox="1"/>
          <p:nvPr/>
        </p:nvSpPr>
        <p:spPr>
          <a:xfrm>
            <a:off x="1552604" y="3523357"/>
            <a:ext cx="153019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GDP Collapse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57250" y="4132957"/>
            <a:ext cx="2921049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COVID-19: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GDP plummeted nearly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-9%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 a single quarter, dwarfing the worst quarter of the GFC (-2.5%).</a:t>
            </a:r>
            <a:endParaRPr dirty="0"/>
          </a:p>
        </p:txBody>
      </p:sp>
      <p:sp>
        <p:nvSpPr>
          <p:cNvPr id="179" name="Google Shape;179;p20"/>
          <p:cNvSpPr txBox="1"/>
          <p:nvPr/>
        </p:nvSpPr>
        <p:spPr>
          <a:xfrm>
            <a:off x="5495925" y="3523357"/>
            <a:ext cx="12001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Job Losses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635549" y="4132957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Unprecedented: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Unemployment spiked by over </a:t>
            </a: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5 percentage points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 one quarter, a speed never seen in modern history.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8944183" y="3523357"/>
            <a:ext cx="186023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Nature of Shock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413849" y="4132957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Exogenous: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Unlike the endogenous financial rot of the GFC, COVID-19 was a "sudden stop" imposed by external health factors.</a:t>
            </a:r>
            <a:endParaRPr/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278993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83799" y="278993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1919287" y="428625"/>
            <a:ext cx="877109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Recovery Paths: U-Shape vs. V-Shape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857250" y="2295525"/>
            <a:ext cx="5000625" cy="102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GFC (The U-Shape):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57250" y="3510855"/>
            <a:ext cx="5000625" cy="129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COVID-19 (The V-Shape):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57250" y="5000476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Economic output recovered its pre-recession level significantly faster in 2020 than in 2009.</a:t>
            </a:r>
            <a:endParaRPr/>
          </a:p>
        </p:txBody>
      </p:sp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3362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54895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38576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81206F43-4AC1-7B04-BF2F-187E52BA2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445" y="1257864"/>
            <a:ext cx="5836112" cy="45821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1837025" y="273040"/>
            <a:ext cx="745093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Shock Propagation Mechanism</a:t>
            </a:r>
            <a:endParaRPr dirty="0"/>
          </a:p>
        </p:txBody>
      </p:sp>
      <p:sp>
        <p:nvSpPr>
          <p:cNvPr id="204" name="Google Shape;204;p22"/>
          <p:cNvSpPr txBox="1"/>
          <p:nvPr/>
        </p:nvSpPr>
        <p:spPr>
          <a:xfrm>
            <a:off x="857250" y="2484183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Financial to Real Amplification</a:t>
            </a: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Analysis confirms that shocks to the S&amp;P 500 significantly impact Real GDP growth.</a:t>
            </a:r>
            <a:endParaRPr dirty="0"/>
          </a:p>
        </p:txBody>
      </p:sp>
      <p:sp>
        <p:nvSpPr>
          <p:cNvPr id="205" name="Google Shape;205;p22"/>
          <p:cNvSpPr txBox="1"/>
          <p:nvPr/>
        </p:nvSpPr>
        <p:spPr>
          <a:xfrm>
            <a:off x="857250" y="3648075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Wealth Effects: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Rising markets make consumers feel richer, boosting spending. Falling markets do the reverse.</a:t>
            </a:r>
            <a:endParaRPr dirty="0"/>
          </a:p>
        </p:txBody>
      </p:sp>
      <p:sp>
        <p:nvSpPr>
          <p:cNvPr id="206" name="Google Shape;206;p22"/>
          <p:cNvSpPr txBox="1"/>
          <p:nvPr/>
        </p:nvSpPr>
        <p:spPr>
          <a:xfrm>
            <a:off x="857250" y="4880794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Confidence Channel: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Firms use market signals to gauge future demand. A market collapse (like in the GFC) causes firms to freeze investment.</a:t>
            </a:r>
            <a:endParaRPr dirty="0"/>
          </a:p>
        </p:txBody>
      </p:sp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812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68617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696" y="5007384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with numbers and a chart&#10;&#10;AI-generated content may be incorrect.">
            <a:extLst>
              <a:ext uri="{FF2B5EF4-FFF2-40B4-BE49-F238E27FC236}">
                <a16:creationId xmlns:a16="http://schemas.microsoft.com/office/drawing/2014/main" id="{CAC9E924-CC4E-A6E6-94D1-048004772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305" y="3478880"/>
            <a:ext cx="5267302" cy="3383113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39D1A5EB-0EE5-E6F2-4D36-D8E35764D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854" y="844540"/>
            <a:ext cx="3549081" cy="2634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2150506" y="1663005"/>
            <a:ext cx="7890986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Firm-Level Responses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to the GFC</a:t>
            </a:r>
            <a:endParaRPr dirty="0"/>
          </a:p>
        </p:txBody>
      </p:sp>
      <p:sp>
        <p:nvSpPr>
          <p:cNvPr id="217" name="Google Shape;217;p23"/>
          <p:cNvSpPr txBox="1"/>
          <p:nvPr/>
        </p:nvSpPr>
        <p:spPr>
          <a:xfrm>
            <a:off x="3831507" y="4471958"/>
            <a:ext cx="452898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Evidence from </a:t>
            </a:r>
            <a:r>
              <a:rPr lang="en-US" sz="21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Compustat</a:t>
            </a:r>
            <a:r>
              <a:rPr lang="en-US" sz="21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Data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/>
        </p:nvSpPr>
        <p:spPr>
          <a:xfrm>
            <a:off x="2828925" y="428625"/>
            <a:ext cx="686085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Aggregate Firm Performance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857250" y="2258600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Revenue Shock: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Median firm revenue dropped ≈10% due to the collapse in aggregate demand.</a:t>
            </a:r>
            <a:endParaRPr dirty="0"/>
          </a:p>
        </p:txBody>
      </p:sp>
      <p:sp>
        <p:nvSpPr>
          <p:cNvPr id="225" name="Google Shape;225;p24"/>
          <p:cNvSpPr txBox="1"/>
          <p:nvPr/>
        </p:nvSpPr>
        <p:spPr>
          <a:xfrm>
            <a:off x="857250" y="3150840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Investment Freeze: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Widespread cuts in capital expenditure (CAPEX) as firms conserved cash amidst uncertainty.</a:t>
            </a:r>
            <a:endParaRPr dirty="0"/>
          </a:p>
        </p:txBody>
      </p:sp>
      <p:sp>
        <p:nvSpPr>
          <p:cNvPr id="226" name="Google Shape;226;p24"/>
          <p:cNvSpPr txBox="1"/>
          <p:nvPr/>
        </p:nvSpPr>
        <p:spPr>
          <a:xfrm>
            <a:off x="857250" y="4255740"/>
            <a:ext cx="50006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Leverage Spike </a:t>
            </a:r>
            <a:r>
              <a:rPr lang="en-US" sz="150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median leverage ratio jumping from about 0.50 pre-crisis to nearly 0.60 as falling asset values mechanically inflated leverage and deepened the recession by forcing firms to cut investment and hiring. 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88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889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2938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EC56635-37DB-B77E-5875-FCAE3A220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626" y="1000125"/>
            <a:ext cx="5235394" cy="57154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/>
        </p:nvSpPr>
        <p:spPr>
          <a:xfrm>
            <a:off x="3524250" y="428625"/>
            <a:ext cx="54006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Sectoral Heterogeneity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857250" y="2335559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Retail (Immediate Impact):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Highly sensitive to consumer demand, retail firms cut investment immediately as the crisis hit.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857250" y="3440459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Manufacturing (Delayed Impact):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was stable during the crisis, collapsed after the crisis, falling to 0.8%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857249" y="4412894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Insight: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Capital-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intensive sectors face "lumpy" adjustments and long-term uncertainty, leading to persistent post-crisis drags on growth.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41" name="Google Shape;24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7365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7855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58345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68F26BE-8F88-4BA2-7515-9F870A2C8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136" y="1396181"/>
            <a:ext cx="5000997" cy="45916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/>
          <p:nvPr/>
        </p:nvSpPr>
        <p:spPr>
          <a:xfrm>
            <a:off x="2752725" y="428625"/>
            <a:ext cx="702087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Drove Investment Cuts?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857250" y="2350740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Regression Analysis: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Explaining the change in investment rates (During-GFC minus Pre-GFC).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857250" y="3150840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Manufacturing Resilience:</a:t>
            </a:r>
            <a:r>
              <a:rPr lang="en-US" sz="150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Being in manufacturing was associated with a smaller investment decline during the acute phase.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857250" y="4255740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Leverage Puzzle</a:t>
            </a:r>
            <a:r>
              <a:rPr lang="en-US" sz="15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500" dirty="0">
                <a:solidFill>
                  <a:schemeClr val="tx1"/>
                </a:solidFill>
                <a:latin typeface="DM Sans" pitchFamily="2" charset="0"/>
              </a:rPr>
              <a:t>Higher-leverage firms unexpectedly cut investment less during the crisis.</a:t>
            </a:r>
            <a:endParaRPr sz="1500" dirty="0">
              <a:solidFill>
                <a:schemeClr val="tx1"/>
              </a:solidFill>
              <a:latin typeface="DM Sans" pitchFamily="2" charset="0"/>
            </a:endParaRPr>
          </a:p>
        </p:txBody>
      </p:sp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888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889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2938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62A7BA89-386A-5511-B49A-6B180E526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5" y="1661295"/>
            <a:ext cx="6057168" cy="43265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1712"/>
            <a:ext cx="3492549" cy="355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271712"/>
            <a:ext cx="3492549" cy="355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271712"/>
            <a:ext cx="3492549" cy="355267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/>
        </p:nvSpPr>
        <p:spPr>
          <a:xfrm>
            <a:off x="2976562" y="1033462"/>
            <a:ext cx="655081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&amp; Key Takeaways</a:t>
            </a:r>
            <a:endParaRPr dirty="0"/>
          </a:p>
        </p:txBody>
      </p:sp>
      <p:sp>
        <p:nvSpPr>
          <p:cNvPr id="265" name="Google Shape;265;p27"/>
          <p:cNvSpPr txBox="1"/>
          <p:nvPr/>
        </p:nvSpPr>
        <p:spPr>
          <a:xfrm>
            <a:off x="1457592" y="3386137"/>
            <a:ext cx="172021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Distinct Cycles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857250" y="3995737"/>
            <a:ext cx="29210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Economies are structurally different. The US is a high-volatility engine, while Australia remains an acyclical anomaly driven by external factors.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5335905" y="3386137"/>
            <a:ext cx="152019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Crisis Nature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4635549" y="3995737"/>
            <a:ext cx="29210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nature of the shock determines the recovery. Financial shocks (GFC) create slow U-shaped recoveries; external shocks (COVID) allow for rapid V-shaped rebounds.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9024193" y="3386137"/>
            <a:ext cx="1700212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Firm Behavior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8413849" y="3995737"/>
            <a:ext cx="29210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Firms react heterogeneously. The "denominator effect" drives leverage spikes, and investment cuts vary significantly by sector and pre-existing financial conditions.</a:t>
            </a:r>
            <a:endParaRPr/>
          </a:p>
        </p:txBody>
      </p:sp>
      <p:pic>
        <p:nvPicPr>
          <p:cNvPr id="271" name="Google Shape;27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7200" y="26527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9312" y="26527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31424" y="2652712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64;p27">
            <a:extLst>
              <a:ext uri="{FF2B5EF4-FFF2-40B4-BE49-F238E27FC236}">
                <a16:creationId xmlns:a16="http://schemas.microsoft.com/office/drawing/2014/main" id="{7CB73AAD-C202-3DC4-9A6E-7CECE4BCCC8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25645" y="2716059"/>
            <a:ext cx="77724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You.!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201871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890</Words>
  <Application>Microsoft Office PowerPoint</Application>
  <PresentationFormat>Widescreen</PresentationFormat>
  <Paragraphs>70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Merriweather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Ravindu Weerasekara</dc:creator>
  <cp:lastModifiedBy>Ravindu Weerasekara</cp:lastModifiedBy>
  <cp:revision>1</cp:revision>
  <dcterms:modified xsi:type="dcterms:W3CDTF">2025-11-18T21:24:53Z</dcterms:modified>
</cp:coreProperties>
</file>